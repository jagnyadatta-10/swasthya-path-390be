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68" r:id="rId3"/>
    <p:sldId id="270" r:id="rId5"/>
    <p:sldId id="257" r:id="rId6"/>
    <p:sldId id="256" r:id="rId7"/>
    <p:sldId id="265" r:id="rId8"/>
    <p:sldId id="258" r:id="rId9"/>
    <p:sldId id="267" r:id="rId10"/>
    <p:sldId id="259" r:id="rId11"/>
    <p:sldId id="260" r:id="rId12"/>
    <p:sldId id="263" r:id="rId13"/>
    <p:sldId id="266" r:id="rId14"/>
    <p:sldId id="264" r:id="rId15"/>
    <p:sldId id="273" r:id="rId16"/>
  </p:sldIdLst>
  <p:sldSz cx="12192000" cy="6858000"/>
  <p:notesSz cx="6858000" cy="12192000"/>
  <p:embeddedFontLst>
    <p:embeddedFont>
      <p:font typeface="Algerian" panose="04020705040A02060702" charset="0"/>
      <p:regular r:id="rId20"/>
    </p:embeddedFont>
    <p:embeddedFont>
      <p:font typeface="Arimo" panose="020B0604020202020204"/>
      <p:regular r:id="rId21"/>
    </p:embeddedFont>
    <p:embeddedFont>
      <p:font typeface="Arimo Bold" panose="020B0604020202020204" pitchFamily="34" charset="0"/>
      <p:bold r:id="rId22"/>
    </p:embeddedFont>
    <p:embeddedFont>
      <p:font typeface="Arimo Bold" panose="020B0604020202020204" pitchFamily="34" charset="-122"/>
      <p:bold r:id="rId23"/>
    </p:embeddedFont>
    <p:embeddedFont>
      <p:font typeface="Arimo Bold" panose="020B0604020202020204" pitchFamily="34" charset="-120"/>
      <p:bold r:id="rId24"/>
    </p:embeddedFont>
    <p:embeddedFont>
      <p:font typeface="Arimo" panose="020B0604020202020204" pitchFamily="34" charset="0"/>
      <p:regular r:id="rId25"/>
    </p:embeddedFont>
    <p:embeddedFont>
      <p:font typeface="Arimo" panose="020B0604020202020204" pitchFamily="34" charset="-122"/>
      <p:regular r:id="rId26"/>
    </p:embeddedFont>
    <p:embeddedFont>
      <p:font typeface="Arimo" panose="020B0604020202020204" pitchFamily="34" charset="-120"/>
      <p:regular r:id="rId27"/>
    </p:embeddedFont>
    <p:embeddedFont>
      <p:font typeface="Bradley Hand ITC" panose="03070402050302030203" charset="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99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6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6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jpeg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1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who.int/publications/i/item/9789240059967" TargetMode="External"/><Relationship Id="rId8" Type="http://schemas.openxmlformats.org/officeDocument/2006/relationships/hyperlink" Target="https://www.who.int/publications/i/item/9789240020924" TargetMode="External"/><Relationship Id="rId7" Type="http://schemas.openxmlformats.org/officeDocument/2006/relationships/hyperlink" Target="https://abdm.gov.in/" TargetMode="External"/><Relationship Id="rId6" Type="http://schemas.openxmlformats.org/officeDocument/2006/relationships/hyperlink" Target="https://esanjeevani.mohfw.gov.in/assets/guidelines/Telemedicine_Practice_Guidelines.pdf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3" y="-10583"/>
            <a:ext cx="12191577" cy="4150783"/>
            <a:chOff x="846" y="-21166"/>
            <a:chExt cx="24383153" cy="8301567"/>
          </a:xfrm>
        </p:grpSpPr>
        <p:sp>
          <p:nvSpPr>
            <p:cNvPr id="3" name="Freeform 3"/>
            <p:cNvSpPr/>
            <p:nvPr/>
          </p:nvSpPr>
          <p:spPr>
            <a:xfrm>
              <a:off x="846" y="-21166"/>
              <a:ext cx="24383153" cy="8301567"/>
            </a:xfrm>
            <a:custGeom>
              <a:avLst/>
              <a:gdLst/>
              <a:ahLst/>
              <a:cxnLst/>
              <a:rect l="l" t="t" r="r" b="b"/>
              <a:pathLst>
                <a:path w="24384000" h="8128000">
                  <a:moveTo>
                    <a:pt x="0" y="0"/>
                  </a:moveTo>
                  <a:lnTo>
                    <a:pt x="24384000" y="0"/>
                  </a:lnTo>
                  <a:lnTo>
                    <a:pt x="24384000" y="8128000"/>
                  </a:lnTo>
                  <a:lnTo>
                    <a:pt x="0" y="812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6705621"/>
            <a:ext cx="12192000" cy="243855"/>
            <a:chOff x="0" y="0"/>
            <a:chExt cx="4816593" cy="963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3847" y="4518533"/>
            <a:ext cx="11238903" cy="39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sz="2135" b="1">
                <a:solidFill>
                  <a:srgbClr val="142B4B"/>
                </a:solidFill>
                <a:latin typeface="Aptos"/>
              </a:rPr>
              <a:t>Team Name : </a:t>
            </a:r>
            <a:r>
              <a:rPr lang="en-US" sz="2135" b="1">
                <a:solidFill>
                  <a:srgbClr val="142B4B"/>
                </a:solidFill>
                <a:latin typeface="Aptos"/>
              </a:rPr>
              <a:t>TECH TITANS</a:t>
            </a:r>
            <a:endParaRPr lang="en-US" sz="2135" b="1">
              <a:solidFill>
                <a:srgbClr val="142B4B"/>
              </a:solidFill>
              <a:latin typeface="Apto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9110" y="5810250"/>
            <a:ext cx="9352280" cy="879263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690"/>
              </a:lnSpc>
            </a:pPr>
            <a:r>
              <a:rPr sz="1600" b="0">
                <a:solidFill>
                  <a:srgbClr val="1E232D"/>
                </a:solidFill>
                <a:latin typeface="Aptos"/>
              </a:rPr>
              <a:t>Problem Statement : Rural patients need an easy, safe way to navigate from an unstructured health concern to the appropriate care pathway.</a:t>
            </a:r>
            <a:endParaRPr sz="1600" b="0">
              <a:solidFill>
                <a:srgbClr val="1E232D"/>
              </a:solidFill>
              <a:latin typeface="Apto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4504" y="5151545"/>
            <a:ext cx="11238903" cy="39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sz="1865" b="1">
                <a:solidFill>
                  <a:srgbClr val="142B4B"/>
                </a:solidFill>
                <a:latin typeface="Aptos"/>
              </a:rPr>
              <a:t>Team Leader Name : </a:t>
            </a:r>
            <a:r>
              <a:rPr lang="en-US" sz="1865" b="1">
                <a:solidFill>
                  <a:srgbClr val="142B4B"/>
                </a:solidFill>
                <a:latin typeface="Aptos"/>
              </a:rPr>
              <a:t>KUMAR JAGNYADATTA</a:t>
            </a:r>
            <a:endParaRPr lang="en-US" sz="1865" b="1">
              <a:solidFill>
                <a:srgbClr val="142B4B"/>
              </a:solidFill>
              <a:latin typeface="Apto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364987" y="4660433"/>
            <a:ext cx="1474126" cy="1412581"/>
            <a:chOff x="0" y="0"/>
            <a:chExt cx="582371" cy="5580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2371" cy="558057"/>
            </a:xfrm>
            <a:custGeom>
              <a:avLst/>
              <a:gdLst/>
              <a:ahLst/>
              <a:cxnLst/>
              <a:rect l="l" t="t" r="r" b="b"/>
              <a:pathLst>
                <a:path w="582371" h="558057">
                  <a:moveTo>
                    <a:pt x="178564" y="0"/>
                  </a:moveTo>
                  <a:lnTo>
                    <a:pt x="403807" y="0"/>
                  </a:lnTo>
                  <a:cubicBezTo>
                    <a:pt x="502425" y="0"/>
                    <a:pt x="582371" y="79946"/>
                    <a:pt x="582371" y="178564"/>
                  </a:cubicBezTo>
                  <a:lnTo>
                    <a:pt x="582371" y="379493"/>
                  </a:lnTo>
                  <a:cubicBezTo>
                    <a:pt x="582371" y="426851"/>
                    <a:pt x="563558" y="472269"/>
                    <a:pt x="530071" y="505756"/>
                  </a:cubicBezTo>
                  <a:cubicBezTo>
                    <a:pt x="496583" y="539244"/>
                    <a:pt x="451165" y="558057"/>
                    <a:pt x="403807" y="558057"/>
                  </a:cubicBezTo>
                  <a:lnTo>
                    <a:pt x="178564" y="558057"/>
                  </a:lnTo>
                  <a:cubicBezTo>
                    <a:pt x="79946" y="558057"/>
                    <a:pt x="0" y="478111"/>
                    <a:pt x="0" y="379493"/>
                  </a:cubicBezTo>
                  <a:lnTo>
                    <a:pt x="0" y="178564"/>
                  </a:lnTo>
                  <a:cubicBezTo>
                    <a:pt x="0" y="79946"/>
                    <a:pt x="79946" y="0"/>
                    <a:pt x="178564" y="0"/>
                  </a:cubicBezTo>
                  <a:close/>
                </a:path>
              </a:pathLst>
            </a:custGeom>
            <a:solidFill>
              <a:srgbClr val="95C3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582371" cy="624732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4760"/>
                </a:lnSpc>
              </a:pPr>
              <a:r>
                <a:rPr lang="en-US" sz="2265" b="1">
                  <a:solidFill>
                    <a:srgbClr val="000000"/>
                  </a:solidFill>
                  <a:latin typeface="Canva Sans Bold" panose="020B0803030501040103"/>
                  <a:ea typeface="Canva Sans Bold" panose="020B0803030501040103"/>
                  <a:cs typeface="Canva Sans Bold" panose="020B0803030501040103"/>
                  <a:sym typeface="Canva Sans Bold" panose="020B0803030501040103"/>
                </a:rPr>
                <a:t>LOGO</a:t>
              </a:r>
              <a:endParaRPr lang="en-US" sz="2265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-607907" y="3517477"/>
            <a:ext cx="10972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rgbClr val="142B4B"/>
                </a:solidFill>
                <a:latin typeface="Algerian" panose="04020705040A02060702" charset="0"/>
                <a:cs typeface="Algerian" panose="04020705040A02060702" charset="0"/>
              </a:rPr>
              <a:t>       </a:t>
            </a:r>
            <a:r>
              <a:rPr lang="en-US" sz="3600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 </a:t>
            </a:r>
            <a:r>
              <a:rPr sz="3600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SWASTHYA</a:t>
            </a:r>
            <a:r>
              <a:rPr lang="en-US" sz="3600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  </a:t>
            </a:r>
            <a:r>
              <a:rPr sz="3600" b="1">
                <a:solidFill>
                  <a:schemeClr val="bg1"/>
                </a:solidFill>
                <a:latin typeface="Algerian" panose="04020705040A02060702" charset="0"/>
                <a:cs typeface="Algerian" panose="04020705040A02060702" charset="0"/>
              </a:rPr>
              <a:t>PATH</a:t>
            </a:r>
            <a:endParaRPr sz="3600" b="1">
              <a:solidFill>
                <a:schemeClr val="bg1"/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-457200" y="1803400"/>
            <a:ext cx="9753600" cy="29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5" b="1">
                <a:solidFill>
                  <a:srgbClr val="2869B4"/>
                </a:solidFill>
                <a:latin typeface="Aptos"/>
              </a:rPr>
              <a:t>AI-Assisted Patient Care Navigation for Rural Communities</a:t>
            </a:r>
            <a:endParaRPr sz="1335" b="1">
              <a:solidFill>
                <a:srgbClr val="2869B4"/>
              </a:solidFill>
              <a:latin typeface="Aptos"/>
            </a:endParaRPr>
          </a:p>
        </p:txBody>
      </p:sp>
      <p:pic>
        <p:nvPicPr>
          <p:cNvPr id="16" name="Picture 15" descr="tech titan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4394200"/>
            <a:ext cx="2155190" cy="2155190"/>
          </a:xfrm>
          <a:prstGeom prst="rect">
            <a:avLst/>
          </a:prstGeom>
        </p:spPr>
      </p:pic>
      <p:pic>
        <p:nvPicPr>
          <p:cNvPr id="15" name="Picture 14" descr="tech titons logo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4373033"/>
            <a:ext cx="2332567" cy="23325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1434" y="1714521"/>
          <a:ext cx="12181840" cy="4775200"/>
        </p:xfrm>
        <a:graphic>
          <a:graphicData uri="http://schemas.openxmlformats.org/drawingml/2006/table">
            <a:tbl>
              <a:tblPr/>
              <a:tblGrid>
                <a:gridCol w="6891655"/>
                <a:gridCol w="5290185"/>
              </a:tblGrid>
              <a:tr h="2387600">
                <a:tc>
                  <a:txBody>
                    <a:bodyPr/>
                    <a:lstStyle/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Team Leader: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/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Name: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</a:rPr>
                        <a:t>KUMAR JAGYNYADATTA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College: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</a:rPr>
                        <a:t>GCEK,BHAWANIPATNA</a:t>
                      </a:r>
                      <a:endParaRPr lang="en-US" sz="1865">
                        <a:solidFill>
                          <a:srgbClr val="1E232D"/>
                        </a:solidFill>
                        <a:latin typeface="Aptos"/>
                      </a:endParaRPr>
                    </a:p>
                  </a:txBody>
                  <a:tcPr marT="60950" marB="609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Team Member-1: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/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Name: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</a:rPr>
                        <a:t>KIRAN KUMAR SHARMA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College: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</a:rPr>
                        <a:t>GCEK,BHWANIPATNA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</a:txBody>
                  <a:tcPr marT="60950" marB="609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7600">
                <a:tc>
                  <a:txBody>
                    <a:bodyPr/>
                    <a:lstStyle/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Team Member-2: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/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Name: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</a:rPr>
                        <a:t>LAMBODARA MAHANTA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College: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  <a:sym typeface="+mn-ea"/>
                        </a:rPr>
                        <a:t>GCEK,BHAWANIPATNA</a:t>
                      </a:r>
                      <a:endParaRPr lang="en-US"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</a:txBody>
                  <a:tcPr marT="60950" marB="609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Team Member-3: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/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Name: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</a:rPr>
                        <a:t>MK DURGAMADHAB PANDA</a:t>
                      </a:r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r>
                        <a:rPr sz="1865">
                          <a:solidFill>
                            <a:srgbClr val="1E232D"/>
                          </a:solidFill>
                          <a:latin typeface="Aptos"/>
                        </a:rPr>
                        <a:t>College: </a:t>
                      </a:r>
                      <a:r>
                        <a:rPr lang="en-US" sz="1865">
                          <a:solidFill>
                            <a:srgbClr val="1E232D"/>
                          </a:solidFill>
                          <a:latin typeface="Aptos"/>
                          <a:sym typeface="+mn-ea"/>
                        </a:rPr>
                        <a:t>GCEK,BHAWANIPATNA</a:t>
                      </a:r>
                      <a:endParaRPr lang="en-US" sz="1865">
                        <a:solidFill>
                          <a:srgbClr val="1E232D"/>
                        </a:solidFill>
                        <a:latin typeface="Aptos"/>
                      </a:endParaRPr>
                    </a:p>
                    <a:p>
                      <a:endParaRPr sz="1865">
                        <a:solidFill>
                          <a:srgbClr val="1E232D"/>
                        </a:solidFill>
                        <a:latin typeface="Aptos"/>
                      </a:endParaRPr>
                    </a:p>
                  </a:txBody>
                  <a:tcPr marT="60950" marB="609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0" y="0"/>
            <a:ext cx="12192000" cy="6858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33866" tIns="33866" rIns="33866" bIns="33866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724283" y="838011"/>
            <a:ext cx="3082099" cy="725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32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Team Members</a:t>
            </a:r>
            <a:endParaRPr lang="en-US" sz="3200">
              <a:solidFill>
                <a:srgbClr val="000000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0" y="6705621"/>
            <a:ext cx="12192000" cy="243855"/>
            <a:chOff x="0" y="0"/>
            <a:chExt cx="4816593" cy="963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33866" tIns="33866" rIns="33866" bIns="3386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sz="12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99"/>
            <a:ext cx="12191695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364" y="55959"/>
            <a:ext cx="640441" cy="5652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830" y="55959"/>
            <a:ext cx="607997" cy="5652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4" y="28178"/>
            <a:ext cx="621094" cy="621109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11257871" y="43160"/>
            <a:ext cx="50799" cy="5930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1"/>
          <p:cNvSpPr/>
          <p:nvPr/>
        </p:nvSpPr>
        <p:spPr>
          <a:xfrm>
            <a:off x="323835" y="687070"/>
            <a:ext cx="11544011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kern="0" spc="111" dirty="0">
                <a:solidFill>
                  <a:srgbClr val="92400E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THE PROBLEM LANDSCAPE</a:t>
            </a:r>
            <a:endParaRPr lang="en-US" sz="2800" dirty="0"/>
          </a:p>
        </p:txBody>
      </p:sp>
      <p:sp>
        <p:nvSpPr>
          <p:cNvPr id="10" name="Text 2"/>
          <p:cNvSpPr/>
          <p:nvPr/>
        </p:nvSpPr>
        <p:spPr>
          <a:xfrm>
            <a:off x="172085" y="1229995"/>
            <a:ext cx="5765800" cy="419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Rural patients lose time getting care</a:t>
            </a:r>
            <a:endParaRPr lang="en-US" sz="2800" dirty="0"/>
          </a:p>
        </p:txBody>
      </p:sp>
      <p:sp>
        <p:nvSpPr>
          <p:cNvPr id="11" name="Shape 3"/>
          <p:cNvSpPr/>
          <p:nvPr/>
        </p:nvSpPr>
        <p:spPr>
          <a:xfrm>
            <a:off x="590550" y="1996440"/>
            <a:ext cx="5558790" cy="1452245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12" name="Text 4"/>
          <p:cNvSpPr/>
          <p:nvPr/>
        </p:nvSpPr>
        <p:spPr>
          <a:xfrm>
            <a:off x="768331" y="2093198"/>
            <a:ext cx="67981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B91C1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CRITICAL SHORTAGE OF DOCTORS</a:t>
            </a:r>
            <a:endParaRPr lang="en-US" dirty="0"/>
          </a:p>
        </p:txBody>
      </p:sp>
      <p:sp>
        <p:nvSpPr>
          <p:cNvPr id="13" name="Text 5"/>
          <p:cNvSpPr/>
          <p:nvPr/>
        </p:nvSpPr>
        <p:spPr>
          <a:xfrm>
            <a:off x="768350" y="2519680"/>
            <a:ext cx="532765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</a:t>
            </a:r>
            <a:r>
              <a:rPr lang="en-US" sz="1600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Rural and semi-urban hospitals have only </a:t>
            </a:r>
            <a:r>
              <a:rPr lang="en-US" sz="1600" b="1" dirty="0">
                <a:solidFill>
                  <a:srgbClr val="1F2937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half of sanctioned doctor posts filled</a:t>
            </a:r>
            <a:r>
              <a:rPr lang="en-US" sz="1600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, so local and specialist care is harder to get. </a:t>
            </a:r>
            <a:endParaRPr lang="en-US" sz="1600" dirty="0">
              <a:solidFill>
                <a:srgbClr val="1F2937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590550" y="3601085"/>
            <a:ext cx="5577205" cy="1185545"/>
          </a:xfrm>
          <a:prstGeom prst="rect">
            <a:avLst/>
          </a:prstGeom>
          <a:solidFill>
            <a:srgbClr val="FFFBEB"/>
          </a:solidFill>
        </p:spPr>
        <p:txBody>
          <a:bodyPr/>
          <a:p>
            <a:endParaRPr lang="en-US"/>
          </a:p>
        </p:txBody>
      </p:sp>
      <p:sp>
        <p:nvSpPr>
          <p:cNvPr id="15" name="Text 7"/>
          <p:cNvSpPr/>
          <p:nvPr/>
        </p:nvSpPr>
        <p:spPr>
          <a:xfrm>
            <a:off x="768331" y="3728045"/>
            <a:ext cx="67981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92400E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ECONOMIC &amp; PHYSICAL BURDEN</a:t>
            </a:r>
            <a:endParaRPr lang="en-US" dirty="0"/>
          </a:p>
        </p:txBody>
      </p:sp>
      <p:sp>
        <p:nvSpPr>
          <p:cNvPr id="16" name="Text 8"/>
          <p:cNvSpPr/>
          <p:nvPr/>
        </p:nvSpPr>
        <p:spPr>
          <a:xfrm>
            <a:off x="768350" y="4123690"/>
            <a:ext cx="5170170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Daily-wage workers and farmers may lose a day's pay and spend money traveling for care.</a:t>
            </a:r>
            <a:r>
              <a:rPr lang="en-US" sz="1400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</a:t>
            </a:r>
            <a:endParaRPr lang="en-US" sz="1400" dirty="0"/>
          </a:p>
        </p:txBody>
      </p:sp>
      <p:sp>
        <p:nvSpPr>
          <p:cNvPr id="17" name="Shape 9"/>
          <p:cNvSpPr/>
          <p:nvPr/>
        </p:nvSpPr>
        <p:spPr>
          <a:xfrm>
            <a:off x="590550" y="4939030"/>
            <a:ext cx="5558790" cy="1185545"/>
          </a:xfrm>
          <a:prstGeom prst="rect">
            <a:avLst/>
          </a:prstGeom>
          <a:solidFill>
            <a:srgbClr val="F3F4F6"/>
          </a:solidFill>
        </p:spPr>
      </p:sp>
      <p:sp>
        <p:nvSpPr>
          <p:cNvPr id="18" name="Text 10"/>
          <p:cNvSpPr/>
          <p:nvPr/>
        </p:nvSpPr>
        <p:spPr>
          <a:xfrm>
            <a:off x="768331" y="5065812"/>
            <a:ext cx="679810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4B5563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COMPOUNDING INFRASTRUCTURE DELAYS</a:t>
            </a: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768350" y="5461635"/>
            <a:ext cx="5189220" cy="6629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Poor roads, weak connections, missing specialists, and out-of-stock medicines cause delays and wasted trips. </a:t>
            </a:r>
            <a:endParaRPr lang="en-US" sz="1600" dirty="0">
              <a:solidFill>
                <a:srgbClr val="1F2937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pic>
        <p:nvPicPr>
          <p:cNvPr id="22" name="Picture 21" descr="ChatGPT Image Oct 1, 2026, 12_59_38 A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4740" y="716915"/>
            <a:ext cx="5974080" cy="5710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499"/>
            <a:ext cx="12191695" cy="355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364" y="55959"/>
            <a:ext cx="640441" cy="5652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830" y="55959"/>
            <a:ext cx="607997" cy="5652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4" y="28178"/>
            <a:ext cx="621094" cy="621109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11257871" y="43160"/>
            <a:ext cx="50799" cy="5930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1"/>
          <p:cNvSpPr/>
          <p:nvPr/>
        </p:nvSpPr>
        <p:spPr>
          <a:xfrm>
            <a:off x="295260" y="790575"/>
            <a:ext cx="11544011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kern="0" spc="111" dirty="0">
                <a:solidFill>
                  <a:srgbClr val="0052C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HACKVERSE 2026 · HEALTHCARE INNOVATION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4011295" y="1313815"/>
            <a:ext cx="10894060" cy="6426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40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Swasthya</a:t>
            </a:r>
            <a:r>
              <a:rPr lang="en-US" sz="4400" dirty="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Path</a:t>
            </a:r>
            <a:endParaRPr lang="en-US" sz="4400" dirty="0"/>
          </a:p>
        </p:txBody>
      </p:sp>
      <p:sp>
        <p:nvSpPr>
          <p:cNvPr id="11" name="Text 3"/>
          <p:cNvSpPr/>
          <p:nvPr/>
        </p:nvSpPr>
        <p:spPr>
          <a:xfrm>
            <a:off x="295260" y="2241788"/>
            <a:ext cx="11544011" cy="330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0052C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Low-bandwidth access to rural care in many languages</a:t>
            </a:r>
            <a:endParaRPr lang="en-US" sz="2400" dirty="0"/>
          </a:p>
        </p:txBody>
      </p:sp>
      <p:sp>
        <p:nvSpPr>
          <p:cNvPr id="12" name="Text 4"/>
          <p:cNvSpPr/>
          <p:nvPr/>
        </p:nvSpPr>
        <p:spPr>
          <a:xfrm>
            <a:off x="396860" y="2727563"/>
            <a:ext cx="11601160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Help patients check for a clinician, records, and medicines before traveling.</a:t>
            </a:r>
            <a:endParaRPr lang="en-US" dirty="0"/>
          </a:p>
        </p:txBody>
      </p:sp>
      <p:sp>
        <p:nvSpPr>
          <p:cNvPr id="13" name="Shape 5"/>
          <p:cNvSpPr/>
          <p:nvPr/>
        </p:nvSpPr>
        <p:spPr>
          <a:xfrm>
            <a:off x="17780" y="3630295"/>
            <a:ext cx="3550920" cy="149733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14" name="Text 6"/>
          <p:cNvSpPr/>
          <p:nvPr/>
        </p:nvSpPr>
        <p:spPr>
          <a:xfrm>
            <a:off x="344170" y="3782695"/>
            <a:ext cx="3667125" cy="2768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52C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LOW-BANDWIDTH FIRST</a:t>
            </a: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344805" y="4192270"/>
            <a:ext cx="2936240" cy="4953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Service adjusts to connection; records work offline</a:t>
            </a:r>
            <a:endParaRPr lang="en-US" dirty="0">
              <a:solidFill>
                <a:srgbClr val="1F2937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525520" y="3630295"/>
            <a:ext cx="4429125" cy="149352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17" name="Text 9"/>
          <p:cNvSpPr/>
          <p:nvPr/>
        </p:nvSpPr>
        <p:spPr>
          <a:xfrm>
            <a:off x="4298950" y="3782695"/>
            <a:ext cx="3431540" cy="2768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52C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MULTILINGUAL &amp; VOICE</a:t>
            </a: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4307205" y="4180840"/>
            <a:ext cx="3465195" cy="3886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Support in many languages,</a:t>
            </a:r>
            <a:endParaRPr lang="en-US" dirty="0">
              <a:solidFill>
                <a:srgbClr val="1F2937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with help when needed</a:t>
            </a:r>
            <a:endParaRPr lang="en-US" dirty="0"/>
          </a:p>
        </p:txBody>
      </p:sp>
      <p:sp>
        <p:nvSpPr>
          <p:cNvPr id="19" name="Shape 11"/>
          <p:cNvSpPr/>
          <p:nvPr/>
        </p:nvSpPr>
        <p:spPr>
          <a:xfrm>
            <a:off x="7949565" y="3630295"/>
            <a:ext cx="4201795" cy="1497965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20" name="Text 12"/>
          <p:cNvSpPr/>
          <p:nvPr/>
        </p:nvSpPr>
        <p:spPr>
          <a:xfrm>
            <a:off x="8539275" y="3782913"/>
            <a:ext cx="3943251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52C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CLINICIAN-LED TRIAGE</a:t>
            </a: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8722360" y="4180840"/>
            <a:ext cx="3431540" cy="3403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Triage helps; </a:t>
            </a:r>
            <a:endParaRPr lang="en-US" dirty="0">
              <a:solidFill>
                <a:srgbClr val="1F2937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clinicians make decisions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549" y="1218699"/>
            <a:ext cx="9970497" cy="27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75"/>
              </a:lnSpc>
            </a:pPr>
            <a:endParaRPr sz="120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6705621"/>
            <a:ext cx="12192000" cy="243855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87680" y="883921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42B4B"/>
                </a:solidFill>
                <a:latin typeface="Aptos"/>
              </a:rPr>
              <a:t>3. Opportunity, Differentiation &amp; USP</a:t>
            </a:r>
            <a:endParaRPr sz="2800" b="1">
              <a:solidFill>
                <a:srgbClr val="142B4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732" y="1556512"/>
            <a:ext cx="993648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5A6470"/>
                </a:solidFill>
                <a:latin typeface="Aptos"/>
              </a:rPr>
              <a:t>We complement existing telemedicine infrastructure instead of duplicating it.</a:t>
            </a:r>
            <a:endParaRPr sz="2000">
              <a:solidFill>
                <a:srgbClr val="5A647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16560" y="2286635"/>
            <a:ext cx="3149600" cy="3345180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2400">
                <a:solidFill>
                  <a:srgbClr val="1E232D"/>
                </a:solidFill>
                <a:latin typeface="Aptos"/>
              </a:rPr>
              <a:t>THE PROBLEM
</a:t>
            </a:r>
            <a:r>
              <a:rPr>
                <a:solidFill>
                  <a:srgbClr val="1E232D"/>
                </a:solidFill>
                <a:latin typeface="Aptos"/>
              </a:rPr>
              <a:t>Patients often begin with an unstructured concern:
“I’m not feeling well.”
They may not know the urgency, care pathway, or what information to provide.</a:t>
            </a:r>
            <a:endParaRPr>
              <a:solidFill>
                <a:srgbClr val="1E232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89985" y="2303145"/>
            <a:ext cx="3124835" cy="330771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2400">
                <a:solidFill>
                  <a:srgbClr val="1E232D"/>
                </a:solidFill>
                <a:latin typeface="Aptos"/>
              </a:rPr>
              <a:t>OUR APPROACH
</a:t>
            </a:r>
            <a:r>
              <a:rPr>
                <a:solidFill>
                  <a:srgbClr val="1E232D"/>
                </a:solidFill>
                <a:latin typeface="Aptos"/>
              </a:rPr>
              <a:t>Conversational intake
→ structured symptoms
→ care-pathway navigation
→ consultation preparation
→ follow-up</a:t>
            </a:r>
            <a:endParaRPr>
              <a:solidFill>
                <a:srgbClr val="1E232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13245" y="2320290"/>
            <a:ext cx="4370070" cy="329057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2400">
                <a:solidFill>
                  <a:srgbClr val="1E232D"/>
                </a:solidFill>
                <a:latin typeface="Aptos"/>
              </a:rPr>
              <a:t>USP
</a:t>
            </a:r>
            <a:r>
              <a:rPr sz="1135">
                <a:solidFill>
                  <a:srgbClr val="1E232D"/>
                </a:solidFill>
                <a:latin typeface="Aptos"/>
              </a:rPr>
              <a:t>
</a:t>
            </a:r>
            <a:r>
              <a:rPr>
                <a:solidFill>
                  <a:srgbClr val="1E232D"/>
                </a:solidFill>
                <a:latin typeface="Aptos"/>
              </a:rPr>
              <a:t>Patient-side care navigation
• Starts with the patient’s problem, not a service choice
• Local-language / voice-ready
• AI assists; doctors decide
• Safety-first escalation
• Designed to work alongside existing healthcare services</a:t>
            </a:r>
            <a:endParaRPr>
              <a:solidFill>
                <a:srgbClr val="1E232D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499"/>
            <a:ext cx="12191695" cy="355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364" y="55959"/>
            <a:ext cx="640441" cy="5652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830" y="55959"/>
            <a:ext cx="607997" cy="5652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4" y="28178"/>
            <a:ext cx="621094" cy="621109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11257871" y="43160"/>
            <a:ext cx="50799" cy="5930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1"/>
          <p:cNvSpPr/>
          <p:nvPr/>
        </p:nvSpPr>
        <p:spPr>
          <a:xfrm>
            <a:off x="385430" y="837565"/>
            <a:ext cx="11544011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200" b="1" kern="0" spc="111" dirty="0">
                <a:solidFill>
                  <a:srgbClr val="2B0AFF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PATIENT-TO-CARE FLOWCHART</a:t>
            </a:r>
            <a:endParaRPr lang="en-US" sz="3200" dirty="0"/>
          </a:p>
        </p:txBody>
      </p:sp>
      <p:sp>
        <p:nvSpPr>
          <p:cNvPr id="10" name="Text 2"/>
          <p:cNvSpPr/>
          <p:nvPr/>
        </p:nvSpPr>
        <p:spPr>
          <a:xfrm>
            <a:off x="469885" y="1581368"/>
            <a:ext cx="10953476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dirty="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One connected journey from patient to care</a:t>
            </a:r>
            <a:endParaRPr lang="en-US" sz="2700" dirty="0"/>
          </a:p>
        </p:txBody>
      </p:sp>
      <p:sp>
        <p:nvSpPr>
          <p:cNvPr id="12" name="Shape 4"/>
          <p:cNvSpPr/>
          <p:nvPr/>
        </p:nvSpPr>
        <p:spPr>
          <a:xfrm>
            <a:off x="117475" y="2520950"/>
            <a:ext cx="2529205" cy="3422650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13" name="Text 5"/>
          <p:cNvSpPr/>
          <p:nvPr/>
        </p:nvSpPr>
        <p:spPr>
          <a:xfrm>
            <a:off x="168257" y="2535753"/>
            <a:ext cx="250560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STEP 01 · ACCESS</a:t>
            </a:r>
            <a:endParaRPr lang="en-US" sz="1900" dirty="0"/>
          </a:p>
        </p:txBody>
      </p:sp>
      <p:sp>
        <p:nvSpPr>
          <p:cNvPr id="14" name="Text 6"/>
          <p:cNvSpPr/>
          <p:nvPr/>
        </p:nvSpPr>
        <p:spPr>
          <a:xfrm>
            <a:off x="241917" y="2952869"/>
            <a:ext cx="2505608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Language Choice</a:t>
            </a: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385427" y="3439220"/>
            <a:ext cx="1769026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Choose a language; text uses less data.</a:t>
            </a:r>
            <a:endParaRPr lang="en-US" sz="17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651760" y="2520950"/>
            <a:ext cx="2275840" cy="3428365"/>
          </a:xfrm>
          <a:prstGeom prst="rect">
            <a:avLst/>
          </a:prstGeom>
          <a:solidFill>
            <a:srgbClr val="F0F7FF"/>
          </a:solidFill>
        </p:spPr>
      </p:sp>
      <p:sp>
        <p:nvSpPr>
          <p:cNvPr id="17" name="Text 9"/>
          <p:cNvSpPr/>
          <p:nvPr/>
        </p:nvSpPr>
        <p:spPr>
          <a:xfrm>
            <a:off x="2646567" y="2504638"/>
            <a:ext cx="250560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STEP 02 · INTAKE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2646567" y="2937629"/>
            <a:ext cx="2505608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Symptom Entry</a:t>
            </a:r>
            <a:endParaRPr lang="en-US" b="1" dirty="0">
              <a:solidFill>
                <a:srgbClr val="000000"/>
              </a:solidFill>
              <a:latin typeface="Arimo Bold" panose="020B0604020202020204" pitchFamily="34" charset="0"/>
              <a:ea typeface="Arimo Bold" panose="020B0604020202020204" pitchFamily="34" charset="-122"/>
              <a:cs typeface="Arimo Bold" panose="020B0604020202020204" pitchFamily="34" charset="-12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2746262" y="3334445"/>
            <a:ext cx="1769026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Share symptoms by text or voice securely when connected.</a:t>
            </a:r>
            <a:endParaRPr lang="en-US" sz="17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4874260" y="2535555"/>
            <a:ext cx="2389505" cy="3421380"/>
          </a:xfrm>
          <a:prstGeom prst="rect">
            <a:avLst/>
          </a:prstGeom>
          <a:solidFill>
            <a:srgbClr val="FEF2F2"/>
          </a:solidFill>
        </p:spPr>
      </p:sp>
      <p:sp>
        <p:nvSpPr>
          <p:cNvPr id="21" name="Text 13"/>
          <p:cNvSpPr/>
          <p:nvPr/>
        </p:nvSpPr>
        <p:spPr>
          <a:xfrm>
            <a:off x="5061277" y="2521148"/>
            <a:ext cx="250560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STEP 03 · SAFETY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5061585" y="2952750"/>
            <a:ext cx="2596515" cy="87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AI Urgency Check</a:t>
            </a: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5182562" y="3439220"/>
            <a:ext cx="1769026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B91C1C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When connected, triage flags urgent symptoms for a clinician or emergency care. AI needs a connection.</a:t>
            </a:r>
            <a:endParaRPr lang="en-US" sz="1700" dirty="0">
              <a:solidFill>
                <a:srgbClr val="B91C1C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266940" y="2535555"/>
            <a:ext cx="2374265" cy="3425190"/>
          </a:xfrm>
          <a:prstGeom prst="rect">
            <a:avLst/>
          </a:prstGeom>
          <a:solidFill>
            <a:srgbClr val="F0FDF4"/>
          </a:solidFill>
        </p:spPr>
        <p:txBody>
          <a:bodyPr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7344410" y="2503170"/>
            <a:ext cx="2505710" cy="76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STEP 04 · TRIAGE</a:t>
            </a:r>
            <a:endParaRPr lang="en-US" sz="1900" dirty="0"/>
          </a:p>
        </p:txBody>
      </p:sp>
      <p:sp>
        <p:nvSpPr>
          <p:cNvPr id="26" name="Text 18"/>
          <p:cNvSpPr/>
          <p:nvPr/>
        </p:nvSpPr>
        <p:spPr>
          <a:xfrm>
            <a:off x="7415126" y="2937629"/>
            <a:ext cx="2505608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Book Clinician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415126" y="3439220"/>
            <a:ext cx="1830639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Find and book an available doctor when connected; online visits need a connection.</a:t>
            </a:r>
            <a:endParaRPr lang="en-US" sz="17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641205" y="2534285"/>
            <a:ext cx="2300605" cy="3426460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29" name="Text 21"/>
          <p:cNvSpPr/>
          <p:nvPr/>
        </p:nvSpPr>
        <p:spPr>
          <a:xfrm>
            <a:off x="9644615" y="2513528"/>
            <a:ext cx="2505707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STEP 05 · CLOSURE</a:t>
            </a:r>
            <a:endParaRPr lang="en-US" sz="1900" dirty="0"/>
          </a:p>
        </p:txBody>
      </p:sp>
      <p:sp>
        <p:nvSpPr>
          <p:cNvPr id="30" name="Text 22"/>
          <p:cNvSpPr/>
          <p:nvPr/>
        </p:nvSpPr>
        <p:spPr>
          <a:xfrm>
            <a:off x="9687795" y="2937629"/>
            <a:ext cx="2505707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Verify Stock</a:t>
            </a: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9647790" y="3439220"/>
            <a:ext cx="1769125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Check pharmacy stock online before traveling; it may change.</a:t>
            </a:r>
            <a:endParaRPr lang="en-US" sz="17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8614" y="1163454"/>
            <a:ext cx="9970497" cy="3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5"/>
              </a:lnSpc>
            </a:pPr>
            <a:endParaRPr sz="1200"/>
          </a:p>
        </p:txBody>
      </p:sp>
      <p:grpSp>
        <p:nvGrpSpPr>
          <p:cNvPr id="3" name="Group 3"/>
          <p:cNvGrpSpPr/>
          <p:nvPr/>
        </p:nvGrpSpPr>
        <p:grpSpPr>
          <a:xfrm>
            <a:off x="28575" y="-11988"/>
            <a:ext cx="12192000" cy="782241"/>
            <a:chOff x="0" y="-34136"/>
            <a:chExt cx="24384000" cy="156448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-34136"/>
              <a:ext cx="24384000" cy="1564481"/>
              <a:chOff x="0" y="-6743"/>
              <a:chExt cx="4816593" cy="3090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6743"/>
                <a:ext cx="4816593" cy="309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6705621"/>
            <a:ext cx="12192000" cy="243855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22250" y="768985"/>
            <a:ext cx="7561580" cy="557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142B4B"/>
                </a:solidFill>
                <a:latin typeface="Aptos"/>
              </a:rPr>
              <a:t>5. Process Flow Diagram</a:t>
            </a:r>
            <a:endParaRPr sz="2800" b="1">
              <a:solidFill>
                <a:srgbClr val="142B4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3685" y="1290320"/>
            <a:ext cx="8738870" cy="624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>
                <a:solidFill>
                  <a:srgbClr val="5A6470"/>
                </a:solidFill>
                <a:latin typeface="Aptos"/>
              </a:rPr>
              <a:t>The system begins with the patient’s concern and routes toward the appropriate care pathway</a:t>
            </a:r>
            <a:r>
              <a:rPr>
                <a:solidFill>
                  <a:srgbClr val="5A6470"/>
                </a:solidFill>
                <a:latin typeface="Aptos"/>
              </a:rPr>
              <a:t>.</a:t>
            </a:r>
            <a:endParaRPr>
              <a:solidFill>
                <a:srgbClr val="5A647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6220" y="1819910"/>
            <a:ext cx="1307465" cy="873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PATIENT</a:t>
            </a:r>
            <a:endParaRPr sz="1300" b="1">
              <a:solidFill>
                <a:srgbClr val="1E232D"/>
              </a:solidFill>
              <a:latin typeface="Aptos"/>
            </a:endParaRPr>
          </a:p>
          <a:p>
            <a:pPr algn="ctr"/>
            <a:r>
              <a:rPr sz="1000" b="1">
                <a:solidFill>
                  <a:srgbClr val="1E232D"/>
                </a:solidFill>
                <a:latin typeface="Aptos"/>
              </a:rPr>
              <a:t>“I’m not feeling</a:t>
            </a:r>
            <a:endParaRPr sz="1000" b="1">
              <a:solidFill>
                <a:srgbClr val="1E232D"/>
              </a:solidFill>
              <a:latin typeface="Aptos"/>
            </a:endParaRPr>
          </a:p>
          <a:p>
            <a:pPr algn="ctr"/>
            <a:r>
              <a:rPr sz="1000" b="1">
                <a:solidFill>
                  <a:srgbClr val="1E232D"/>
                </a:solidFill>
                <a:latin typeface="Aptos"/>
              </a:rPr>
              <a:t>well.”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18055" y="1830705"/>
            <a:ext cx="1791335" cy="828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CONVERSATIONAL</a:t>
            </a:r>
            <a:endParaRPr sz="1300" b="1">
              <a:solidFill>
                <a:srgbClr val="1E232D"/>
              </a:solidFill>
              <a:latin typeface="Aptos"/>
            </a:endParaRPr>
          </a:p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INTAKE
</a:t>
            </a:r>
            <a:r>
              <a:rPr sz="1000" b="1">
                <a:solidFill>
                  <a:srgbClr val="1E232D"/>
                </a:solidFill>
                <a:latin typeface="Aptos"/>
              </a:rPr>
              <a:t>Natural language / voice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93970" y="1840230"/>
            <a:ext cx="2037715" cy="81470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STRUCTURE SYMPTOMS
</a:t>
            </a:r>
            <a:r>
              <a:rPr sz="1000" b="1">
                <a:solidFill>
                  <a:srgbClr val="1E232D"/>
                </a:solidFill>
                <a:latin typeface="Aptos"/>
              </a:rPr>
              <a:t>Duration • severity • warning signs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727835" y="3049270"/>
            <a:ext cx="2202180" cy="66167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CARE NAVIGATION
</a:t>
            </a:r>
            <a:r>
              <a:rPr sz="1000" b="1">
                <a:solidFill>
                  <a:srgbClr val="1E232D"/>
                </a:solidFill>
                <a:latin typeface="Aptos"/>
              </a:rPr>
              <a:t>Emergency / physical care / teleconsult / routine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7790" y="4119880"/>
            <a:ext cx="1630045" cy="6254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🚨 EMERGENCY
</a:t>
            </a:r>
            <a:r>
              <a:rPr sz="1000" b="1">
                <a:solidFill>
                  <a:srgbClr val="1E232D"/>
                </a:solidFill>
                <a:latin typeface="Aptos"/>
              </a:rPr>
              <a:t>Immediate physical care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91665" y="4745355"/>
            <a:ext cx="2038350" cy="70548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👨‍⚕</a:t>
            </a:r>
            <a:r>
              <a:rPr sz="1300" b="1">
                <a:solidFill>
                  <a:srgbClr val="1E232D"/>
                </a:solidFill>
                <a:latin typeface="Aptos"/>
                <a:sym typeface="+mn-ea"/>
              </a:rPr>
              <a:t>CONSULTATION
</a:t>
            </a:r>
            <a:r>
              <a:rPr sz="1300" b="1">
                <a:solidFill>
                  <a:srgbClr val="1E232D"/>
                </a:solidFill>
                <a:latin typeface="Aptos"/>
              </a:rPr>
              <a:t>️ </a:t>
            </a:r>
            <a:r>
              <a:rPr sz="1000" b="1">
                <a:solidFill>
                  <a:srgbClr val="1E232D"/>
                </a:solidFill>
                <a:latin typeface="Aptos"/>
              </a:rPr>
              <a:t>Teleconsult / healthcare professional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089400" y="4103370"/>
            <a:ext cx="2266950" cy="6070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8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300" b="1">
                <a:solidFill>
                  <a:srgbClr val="1E232D"/>
                </a:solidFill>
                <a:latin typeface="Aptos"/>
              </a:rPr>
              <a:t>🏥 ROUTINE PATH
</a:t>
            </a:r>
            <a:r>
              <a:rPr sz="1000" b="1">
                <a:solidFill>
                  <a:srgbClr val="1E232D"/>
                </a:solidFill>
                <a:latin typeface="Aptos"/>
              </a:rPr>
              <a:t>Appropriate guidance / monitoring</a:t>
            </a:r>
            <a:endParaRPr sz="10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62025" y="5664200"/>
            <a:ext cx="5617845" cy="638175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4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Doctor’s advice → care plan → follow-up → escalation if symptoms worsen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-251460" y="6379846"/>
            <a:ext cx="1054608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5A6470"/>
                </a:solidFill>
                <a:latin typeface="Aptos"/>
              </a:rPr>
              <a:t>Safety principle: AI is an intake/navigation aid, not a replacement for medical diagnosis or emergency care.</a:t>
            </a:r>
            <a:endParaRPr sz="1500">
              <a:solidFill>
                <a:srgbClr val="5A6470"/>
              </a:solidFill>
              <a:latin typeface="Aptos"/>
            </a:endParaRPr>
          </a:p>
        </p:txBody>
      </p:sp>
      <p:cxnSp>
        <p:nvCxnSpPr>
          <p:cNvPr id="33" name="Straight Arrow Connector 32"/>
          <p:cNvCxnSpPr>
            <a:stCxn id="16" idx="3"/>
            <a:endCxn id="16" idx="3"/>
          </p:cNvCxnSpPr>
          <p:nvPr/>
        </p:nvCxnSpPr>
        <p:spPr>
          <a:xfrm>
            <a:off x="1543685" y="2256790"/>
            <a:ext cx="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543685" y="2315210"/>
            <a:ext cx="67437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4009390" y="2307590"/>
            <a:ext cx="108458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19" idx="3"/>
          </p:cNvCxnSpPr>
          <p:nvPr/>
        </p:nvCxnSpPr>
        <p:spPr>
          <a:xfrm flipH="1">
            <a:off x="3930015" y="3363595"/>
            <a:ext cx="2183130" cy="165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8" idx="2"/>
          </p:cNvCxnSpPr>
          <p:nvPr/>
        </p:nvCxnSpPr>
        <p:spPr>
          <a:xfrm>
            <a:off x="6113145" y="2654935"/>
            <a:ext cx="0" cy="708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9" idx="2"/>
          </p:cNvCxnSpPr>
          <p:nvPr/>
        </p:nvCxnSpPr>
        <p:spPr>
          <a:xfrm flipH="1">
            <a:off x="2828290" y="3710940"/>
            <a:ext cx="635" cy="673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078865" y="3547745"/>
            <a:ext cx="648335" cy="5022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3930015" y="3547745"/>
            <a:ext cx="485775" cy="483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Picture 20" descr="Healthcare Care Pathway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125" y="1785620"/>
            <a:ext cx="4614545" cy="4364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99"/>
            <a:ext cx="12191695" cy="381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364" y="55959"/>
            <a:ext cx="640441" cy="5652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830" y="55959"/>
            <a:ext cx="607997" cy="5652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4" y="28178"/>
            <a:ext cx="621094" cy="621109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11257871" y="43160"/>
            <a:ext cx="50799" cy="5930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1"/>
          <p:cNvSpPr/>
          <p:nvPr/>
        </p:nvSpPr>
        <p:spPr>
          <a:xfrm>
            <a:off x="380985" y="831215"/>
            <a:ext cx="11544011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kern="0" spc="111" dirty="0">
                <a:solidFill>
                  <a:srgbClr val="0066CC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LOW-BANDWIDTH PLATFORM ARCHITECTURE</a:t>
            </a:r>
            <a:endParaRPr lang="en-US" sz="2000" dirty="0"/>
          </a:p>
        </p:txBody>
      </p:sp>
      <p:sp>
        <p:nvSpPr>
          <p:cNvPr id="10" name="Text 2"/>
          <p:cNvSpPr/>
          <p:nvPr/>
        </p:nvSpPr>
        <p:spPr>
          <a:xfrm>
            <a:off x="590535" y="1379438"/>
            <a:ext cx="11544011" cy="4266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Care adapts to the connection; records are available offline.</a:t>
            </a:r>
            <a:endParaRPr lang="en-US" sz="2800" dirty="0"/>
          </a:p>
        </p:txBody>
      </p:sp>
      <p:sp>
        <p:nvSpPr>
          <p:cNvPr id="11" name="Shape 3"/>
          <p:cNvSpPr/>
          <p:nvPr/>
        </p:nvSpPr>
        <p:spPr>
          <a:xfrm>
            <a:off x="590535" y="2114153"/>
            <a:ext cx="3568611" cy="2093416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12" name="Text 4"/>
          <p:cNvSpPr/>
          <p:nvPr/>
        </p:nvSpPr>
        <p:spPr>
          <a:xfrm>
            <a:off x="819130" y="2342753"/>
            <a:ext cx="3892453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CONNECTED CARE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819130" y="2757289"/>
            <a:ext cx="305427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Video visits with available doctors and specialists; symptom checks that use little data.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4311542" y="2114153"/>
            <a:ext cx="3568611" cy="2093416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5" name="Text 7"/>
          <p:cNvSpPr/>
          <p:nvPr/>
        </p:nvSpPr>
        <p:spPr>
          <a:xfrm>
            <a:off x="4540136" y="2342753"/>
            <a:ext cx="3892453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LIMITED BANDWIDTH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4540136" y="2757289"/>
            <a:ext cx="305427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Text-first intake, small data requests, and adjusted audio/video quality.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7975600" y="2113915"/>
            <a:ext cx="3865880" cy="2093595"/>
          </a:xfrm>
          <a:prstGeom prst="rect">
            <a:avLst/>
          </a:prstGeom>
          <a:solidFill>
            <a:srgbClr val="FFFBEB"/>
          </a:solidFill>
        </p:spPr>
      </p:sp>
      <p:sp>
        <p:nvSpPr>
          <p:cNvPr id="18" name="Text 10"/>
          <p:cNvSpPr/>
          <p:nvPr/>
        </p:nvSpPr>
        <p:spPr>
          <a:xfrm>
            <a:off x="8032543" y="2229723"/>
            <a:ext cx="3930552" cy="2476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INTERMITTENT OR NO CONNECTION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8261143" y="2757289"/>
            <a:ext cx="3054274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Digital records work offline; live visits, AI triage, and pharmacy updates need a connection.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90535" y="4479350"/>
            <a:ext cx="11010625" cy="1104900"/>
          </a:xfrm>
          <a:prstGeom prst="roundRect">
            <a:avLst>
              <a:gd name="adj" fmla="val 10427"/>
            </a:avLst>
          </a:prstGeom>
          <a:solidFill>
            <a:srgbClr val="D3CCFF"/>
          </a:solidFill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30" y="4848920"/>
            <a:ext cx="457189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33467" y="4848642"/>
            <a:ext cx="10591535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Honest boundary:</a:t>
            </a:r>
            <a:r>
              <a:rPr lang="en-US" sz="16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Service adjusts to the connection; only records work offline, not high  resolution interaction .</a:t>
            </a:r>
            <a:endParaRPr lang="en-US" sz="1600" dirty="0"/>
          </a:p>
        </p:txBody>
      </p:sp>
      <p:pic>
        <p:nvPicPr>
          <p:cNvPr id="23" name="Picture 22" descr="ChatGPT Image Oct 1, 2026, 01_08_17 A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10" y="2113915"/>
            <a:ext cx="5299710" cy="3164205"/>
          </a:xfrm>
          <a:prstGeom prst="rect">
            <a:avLst/>
          </a:prstGeom>
        </p:spPr>
      </p:pic>
      <p:pic>
        <p:nvPicPr>
          <p:cNvPr id="31" name="Picture 30" descr="ChatGPT Image Oct 1, 2026, 01_18_15 A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3815" y="2874645"/>
            <a:ext cx="1486535" cy="1486535"/>
          </a:xfrm>
          <a:prstGeom prst="rect">
            <a:avLst/>
          </a:prstGeom>
        </p:spPr>
      </p:pic>
      <p:pic>
        <p:nvPicPr>
          <p:cNvPr id="32" name="Picture 31" descr="recor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9405" y="2854960"/>
            <a:ext cx="1817370" cy="1817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499"/>
            <a:ext cx="12191695" cy="355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364" y="55959"/>
            <a:ext cx="640441" cy="56524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6830" y="55959"/>
            <a:ext cx="607997" cy="5652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74" y="28178"/>
            <a:ext cx="621094" cy="621109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11257871" y="43160"/>
            <a:ext cx="50799" cy="59303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1"/>
          <p:cNvSpPr/>
          <p:nvPr/>
        </p:nvSpPr>
        <p:spPr>
          <a:xfrm>
            <a:off x="590535" y="889000"/>
            <a:ext cx="11544011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b="1" kern="0" spc="111" dirty="0">
                <a:solidFill>
                  <a:srgbClr val="0057C2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STAKEHOLDER &amp; SERVICE INTEGRATION</a:t>
            </a:r>
            <a:endParaRPr lang="en-US" sz="2200" b="1" kern="0" spc="111" dirty="0">
              <a:solidFill>
                <a:srgbClr val="0057C2"/>
              </a:solidFill>
              <a:latin typeface="Arimo Bold" panose="020B0604020202020204" pitchFamily="34" charset="0"/>
              <a:ea typeface="Arimo Bold" panose="020B0604020202020204" pitchFamily="34" charset="-122"/>
              <a:cs typeface="Arimo Bold" panose="020B0604020202020204" pitchFamily="34" charset="-120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0535" y="1379438"/>
            <a:ext cx="11544011" cy="411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Patients, clinicians, and pharmacies work together in one care pathway</a:t>
            </a:r>
            <a:endParaRPr lang="en-US" sz="2800" dirty="0"/>
          </a:p>
        </p:txBody>
      </p:sp>
      <p:sp>
        <p:nvSpPr>
          <p:cNvPr id="11" name="Text 3"/>
          <p:cNvSpPr/>
          <p:nvPr/>
        </p:nvSpPr>
        <p:spPr>
          <a:xfrm>
            <a:off x="590535" y="2096691"/>
            <a:ext cx="10953476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Local staff help patients connect to care. Current schedules and pharmacy stock help them check before traveling. Updates need partner systems and a connection.</a:t>
            </a:r>
            <a:endParaRPr lang="en-US" sz="16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649590" y="3219013"/>
            <a:ext cx="2638359" cy="1964432"/>
          </a:xfrm>
          <a:prstGeom prst="rect">
            <a:avLst/>
          </a:prstGeom>
          <a:solidFill>
            <a:srgbClr val="F9FAFB"/>
          </a:solidFill>
        </p:spPr>
      </p:sp>
      <p:sp>
        <p:nvSpPr>
          <p:cNvPr id="13" name="Text 5"/>
          <p:cNvSpPr/>
          <p:nvPr/>
        </p:nvSpPr>
        <p:spPr>
          <a:xfrm>
            <a:off x="717532" y="2911673"/>
            <a:ext cx="306379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57C2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PATIENT ACCESS</a:t>
            </a:r>
            <a:endParaRPr lang="en-US" dirty="0"/>
          </a:p>
        </p:txBody>
      </p:sp>
      <p:sp>
        <p:nvSpPr>
          <p:cNvPr id="14" name="Text 6"/>
          <p:cNvSpPr/>
          <p:nvPr/>
        </p:nvSpPr>
        <p:spPr>
          <a:xfrm>
            <a:off x="717532" y="3290689"/>
            <a:ext cx="3063798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Patients &amp; local staff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717532" y="3724970"/>
            <a:ext cx="2327217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Intake in many languages, by voice, or with help for people who have trouble reading.</a:t>
            </a:r>
            <a:endParaRPr lang="en-US" sz="14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439710" y="3219013"/>
            <a:ext cx="2638359" cy="1964432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17" name="Text 9"/>
          <p:cNvSpPr/>
          <p:nvPr/>
        </p:nvSpPr>
        <p:spPr>
          <a:xfrm>
            <a:off x="3508287" y="2911673"/>
            <a:ext cx="306379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57C2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DOCTOR SCHEDULES</a:t>
            </a: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3508287" y="3288506"/>
            <a:ext cx="232721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Available clinicians &amp; specialists</a:t>
            </a:r>
            <a:endParaRPr lang="en-US" sz="1600" b="1" dirty="0">
              <a:solidFill>
                <a:srgbClr val="000000"/>
              </a:solidFill>
              <a:latin typeface="Arimo Bold" panose="020B0604020202020204" pitchFamily="34" charset="0"/>
              <a:ea typeface="Arimo Bold" panose="020B0604020202020204" pitchFamily="34" charset="-122"/>
              <a:cs typeface="Arimo Bold" panose="020B0604020202020204" pitchFamily="34" charset="-12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508287" y="3989864"/>
            <a:ext cx="2327217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Show current doctor schedules and open appointments when connected.</a:t>
            </a:r>
            <a:endParaRPr lang="en-US" sz="14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019165" y="3218815"/>
            <a:ext cx="2887980" cy="1964690"/>
          </a:xfrm>
          <a:prstGeom prst="rect">
            <a:avLst/>
          </a:prstGeom>
          <a:solidFill>
            <a:srgbClr val="FEF3C7"/>
          </a:solidFill>
        </p:spPr>
      </p:sp>
      <p:sp>
        <p:nvSpPr>
          <p:cNvPr id="21" name="Text 13"/>
          <p:cNvSpPr/>
          <p:nvPr/>
        </p:nvSpPr>
        <p:spPr>
          <a:xfrm>
            <a:off x="6201252" y="2909768"/>
            <a:ext cx="306379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8A4B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PHARMACY UPDATES</a:t>
            </a:r>
            <a:endParaRPr lang="en-US" dirty="0"/>
          </a:p>
        </p:txBody>
      </p:sp>
      <p:sp>
        <p:nvSpPr>
          <p:cNvPr id="22" name="Text 14"/>
          <p:cNvSpPr/>
          <p:nvPr/>
        </p:nvSpPr>
        <p:spPr>
          <a:xfrm>
            <a:off x="6055837" y="3290054"/>
            <a:ext cx="3436951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Nearby medicine availability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078697" y="3725605"/>
            <a:ext cx="2443101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Partner pharmacies send current stock updates; check availability before traveling.</a:t>
            </a:r>
            <a:endParaRPr lang="en-US" sz="14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8962801" y="3219013"/>
            <a:ext cx="2638359" cy="1964432"/>
          </a:xfrm>
          <a:prstGeom prst="rect">
            <a:avLst/>
          </a:prstGeom>
          <a:solidFill>
            <a:srgbClr val="ECFDF5"/>
          </a:solidFill>
        </p:spPr>
      </p:sp>
      <p:sp>
        <p:nvSpPr>
          <p:cNvPr id="25" name="Text 17"/>
          <p:cNvSpPr/>
          <p:nvPr/>
        </p:nvSpPr>
        <p:spPr>
          <a:xfrm>
            <a:off x="9089798" y="2911673"/>
            <a:ext cx="3063798" cy="2095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007A52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CARE COORDINATION</a:t>
            </a:r>
            <a:endParaRPr lang="en-US" dirty="0"/>
          </a:p>
        </p:txBody>
      </p:sp>
      <p:sp>
        <p:nvSpPr>
          <p:cNvPr id="26" name="Text 18"/>
          <p:cNvSpPr/>
          <p:nvPr/>
        </p:nvSpPr>
        <p:spPr>
          <a:xfrm>
            <a:off x="9089798" y="3288506"/>
            <a:ext cx="2417305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Hospital staff &amp; administrators</a:t>
            </a:r>
            <a:endParaRPr lang="en-US" sz="1600" b="1" dirty="0">
              <a:solidFill>
                <a:srgbClr val="000000"/>
              </a:solidFill>
              <a:latin typeface="Arimo Bold" panose="020B0604020202020204" pitchFamily="34" charset="0"/>
              <a:ea typeface="Arimo Bold" panose="020B0604020202020204" pitchFamily="34" charset="-122"/>
              <a:cs typeface="Arimo Bold" panose="020B0604020202020204" pitchFamily="34" charset="-12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9089798" y="3991769"/>
            <a:ext cx="2327217" cy="419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Coordinate referrals, schedules, and records across local facilities.</a:t>
            </a:r>
            <a:endParaRPr lang="en-US" sz="1400" dirty="0">
              <a:solidFill>
                <a:srgbClr val="4B5563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49605" y="5469255"/>
            <a:ext cx="5429250" cy="962025"/>
          </a:xfrm>
          <a:prstGeom prst="rect">
            <a:avLst/>
          </a:prstGeom>
          <a:solidFill>
            <a:srgbClr val="F0F7FF"/>
          </a:solidFill>
        </p:spPr>
        <p:txBody>
          <a:bodyPr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768350" y="5575300"/>
            <a:ext cx="5067300" cy="722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Offline-accessible records</a:t>
            </a:r>
            <a:r>
              <a:rPr lang="en-US" sz="14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records are the only item that must work offline; live schedules and pharmacy data need a connection.</a:t>
            </a:r>
            <a:endParaRPr lang="en-US" sz="1400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6299200" y="5475605"/>
            <a:ext cx="5429250" cy="972185"/>
          </a:xfrm>
          <a:prstGeom prst="rect">
            <a:avLst/>
          </a:prstGeom>
          <a:solidFill>
            <a:srgbClr val="F0FDF4"/>
          </a:solidFill>
        </p:spPr>
      </p:sp>
      <p:sp>
        <p:nvSpPr>
          <p:cNvPr id="31" name="Text 23"/>
          <p:cNvSpPr/>
          <p:nvPr/>
        </p:nvSpPr>
        <p:spPr>
          <a:xfrm>
            <a:off x="6356350" y="5575300"/>
            <a:ext cx="5067300" cy="859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Integration boundary:</a:t>
            </a:r>
            <a:r>
              <a:rPr lang="en-US" sz="1400" dirty="0">
                <a:solidFill>
                  <a:srgbClr val="00000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 current stock and schedule information depends on partner participation and timely updates.</a:t>
            </a:r>
            <a:endParaRPr lang="en-US" sz="1400" dirty="0">
              <a:solidFill>
                <a:srgbClr val="000000"/>
              </a:solidFill>
              <a:latin typeface="Arimo" panose="020B0604020202020204" pitchFamily="34" charset="0"/>
              <a:ea typeface="Arimo" panose="020B0604020202020204" pitchFamily="34" charset="-122"/>
              <a:cs typeface="Arimo" panose="020B0604020202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549" y="1155199"/>
            <a:ext cx="9970497" cy="3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5"/>
              </a:lnSpc>
            </a:pPr>
            <a:endParaRPr sz="120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6705621"/>
            <a:ext cx="12192000" cy="243855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87680" y="883921"/>
            <a:ext cx="10058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B4B"/>
                </a:solidFill>
                <a:latin typeface="Aptos"/>
              </a:rPr>
              <a:t>8. Technologies to be Used</a:t>
            </a:r>
            <a:endParaRPr sz="2400" b="1">
              <a:solidFill>
                <a:srgbClr val="142B4B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028190"/>
            <a:ext cx="32004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400" b="1">
                <a:solidFill>
                  <a:srgbClr val="1E232D"/>
                </a:solidFill>
                <a:latin typeface="Aptos"/>
              </a:rPr>
              <a:t>Frontend
React / Next.js
Responsive mobile-first UI</a:t>
            </a:r>
            <a:endParaRPr sz="14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17720" y="2028190"/>
            <a:ext cx="32004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400" b="1">
                <a:solidFill>
                  <a:srgbClr val="1E232D"/>
                </a:solidFill>
                <a:latin typeface="Aptos"/>
              </a:rPr>
              <a:t>Backend
Python + FastAPI
REST APIs</a:t>
            </a:r>
            <a:endParaRPr sz="14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55990" y="2028190"/>
            <a:ext cx="32004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400" b="1">
                <a:solidFill>
                  <a:srgbClr val="1E232D"/>
                </a:solidFill>
                <a:latin typeface="Aptos"/>
              </a:rPr>
              <a:t>AI / NLP
LLM / NLP
Speech-to-text
Odia / Hindi / English</a:t>
            </a:r>
            <a:endParaRPr sz="14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828540"/>
            <a:ext cx="32004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400" b="1">
                <a:solidFill>
                  <a:srgbClr val="1E232D"/>
                </a:solidFill>
                <a:latin typeface="Aptos"/>
              </a:rPr>
              <a:t>Data
PostgreSQL or Firebase
Consent + structured summaries</a:t>
            </a:r>
            <a:endParaRPr sz="14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617720" y="4828540"/>
            <a:ext cx="32004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400" b="1">
                <a:solidFill>
                  <a:srgbClr val="1E232D"/>
                </a:solidFill>
                <a:latin typeface="Aptos"/>
              </a:rPr>
              <a:t>Deployment
Cloud hosting
HTTPS + authentication</a:t>
            </a:r>
            <a:endParaRPr sz="14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555990" y="4828540"/>
            <a:ext cx="3201035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400" b="1">
                <a:solidFill>
                  <a:srgbClr val="1E232D"/>
                </a:solidFill>
                <a:latin typeface="Aptos"/>
              </a:rPr>
              <a:t>Integrations
Maps / location
Telehealth APIs where officially available</a:t>
            </a:r>
            <a:endParaRPr sz="14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8530" y="6009005"/>
            <a:ext cx="10485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A6470"/>
                </a:solidFill>
                <a:latin typeface="Aptos"/>
              </a:rPr>
              <a:t>Security considerations: encryption, minimal data collection, role-based access, consent management and secure API communication.</a:t>
            </a:r>
            <a:endParaRPr sz="1400">
              <a:solidFill>
                <a:srgbClr val="5A6470"/>
              </a:solidFill>
              <a:latin typeface="Aptos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204460" y="3295650"/>
            <a:ext cx="2236470" cy="119316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b="1" i="1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TECHNOLOGY</a:t>
            </a:r>
            <a:endParaRPr lang="en-US" b="1" i="1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cxnSp>
        <p:nvCxnSpPr>
          <p:cNvPr id="26" name="Straight Arrow Connector 25"/>
          <p:cNvCxnSpPr>
            <a:stCxn id="24" idx="1"/>
          </p:cNvCxnSpPr>
          <p:nvPr/>
        </p:nvCxnSpPr>
        <p:spPr>
          <a:xfrm flipH="1" flipV="1">
            <a:off x="3755390" y="3100705"/>
            <a:ext cx="1776730" cy="3695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4" idx="3"/>
          </p:cNvCxnSpPr>
          <p:nvPr/>
        </p:nvCxnSpPr>
        <p:spPr>
          <a:xfrm flipH="1">
            <a:off x="3755390" y="4314190"/>
            <a:ext cx="1776730" cy="3702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4" idx="7"/>
          </p:cNvCxnSpPr>
          <p:nvPr/>
        </p:nvCxnSpPr>
        <p:spPr>
          <a:xfrm flipV="1">
            <a:off x="7113270" y="3034030"/>
            <a:ext cx="1442720" cy="4362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4" idx="5"/>
          </p:cNvCxnSpPr>
          <p:nvPr/>
        </p:nvCxnSpPr>
        <p:spPr>
          <a:xfrm>
            <a:off x="7113270" y="4314190"/>
            <a:ext cx="1442720" cy="5143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4" idx="0"/>
          </p:cNvCxnSpPr>
          <p:nvPr/>
        </p:nvCxnSpPr>
        <p:spPr>
          <a:xfrm flipV="1">
            <a:off x="6322695" y="3034030"/>
            <a:ext cx="0" cy="261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4" idx="4"/>
          </p:cNvCxnSpPr>
          <p:nvPr/>
        </p:nvCxnSpPr>
        <p:spPr>
          <a:xfrm>
            <a:off x="6322695" y="4488815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Picture 22" descr="image for slide 10 - Cop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225" y="3178810"/>
            <a:ext cx="2694305" cy="1504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549" y="1155199"/>
            <a:ext cx="9970497" cy="3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5"/>
              </a:lnSpc>
            </a:pPr>
            <a:endParaRPr sz="120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2192000" cy="685800"/>
            <a:chOff x="0" y="0"/>
            <a:chExt cx="24384000" cy="13716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7093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73F7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775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2847380" y="112237"/>
              <a:ext cx="1280961" cy="1130448"/>
            </a:xfrm>
            <a:custGeom>
              <a:avLst/>
              <a:gdLst/>
              <a:ahLst/>
              <a:cxnLst/>
              <a:rect l="l" t="t" r="r" b="b"/>
              <a:pathLst>
                <a:path w="1280961" h="1130448">
                  <a:moveTo>
                    <a:pt x="0" y="0"/>
                  </a:moveTo>
                  <a:lnTo>
                    <a:pt x="1280961" y="0"/>
                  </a:lnTo>
                  <a:lnTo>
                    <a:pt x="1280961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1134669" y="112237"/>
              <a:ext cx="1216471" cy="1130448"/>
            </a:xfrm>
            <a:custGeom>
              <a:avLst/>
              <a:gdLst/>
              <a:ahLst/>
              <a:cxnLst/>
              <a:rect l="l" t="t" r="r" b="b"/>
              <a:pathLst>
                <a:path w="1216471" h="1130448">
                  <a:moveTo>
                    <a:pt x="0" y="0"/>
                  </a:moveTo>
                  <a:lnTo>
                    <a:pt x="1216470" y="0"/>
                  </a:lnTo>
                  <a:lnTo>
                    <a:pt x="1216470" y="1130448"/>
                  </a:lnTo>
                  <a:lnTo>
                    <a:pt x="0" y="113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9" name="AutoShape 9"/>
            <p:cNvSpPr/>
            <p:nvPr/>
          </p:nvSpPr>
          <p:spPr>
            <a:xfrm>
              <a:off x="22567192" y="86357"/>
              <a:ext cx="0" cy="1186193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Freeform 10"/>
            <p:cNvSpPr/>
            <p:nvPr/>
          </p:nvSpPr>
          <p:spPr>
            <a:xfrm>
              <a:off x="57436" y="56273"/>
              <a:ext cx="1242375" cy="1242375"/>
            </a:xfrm>
            <a:custGeom>
              <a:avLst/>
              <a:gdLst/>
              <a:ahLst/>
              <a:cxnLst/>
              <a:rect l="l" t="t" r="r" b="b"/>
              <a:pathLst>
                <a:path w="1242375" h="1242375">
                  <a:moveTo>
                    <a:pt x="0" y="0"/>
                  </a:moveTo>
                  <a:lnTo>
                    <a:pt x="1242375" y="0"/>
                  </a:lnTo>
                  <a:lnTo>
                    <a:pt x="1242375" y="1242376"/>
                  </a:lnTo>
                  <a:lnTo>
                    <a:pt x="0" y="1242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6705621"/>
            <a:ext cx="12192000" cy="243855"/>
            <a:chOff x="0" y="0"/>
            <a:chExt cx="4816593" cy="963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96338"/>
            </a:xfrm>
            <a:custGeom>
              <a:avLst/>
              <a:gdLst/>
              <a:ahLst/>
              <a:cxnLst/>
              <a:rect l="l" t="t" r="r" b="b"/>
              <a:pathLst>
                <a:path w="4816592" h="96338">
                  <a:moveTo>
                    <a:pt x="0" y="0"/>
                  </a:moveTo>
                  <a:lnTo>
                    <a:pt x="4816592" y="0"/>
                  </a:lnTo>
                  <a:lnTo>
                    <a:pt x="4816592" y="96338"/>
                  </a:lnTo>
                  <a:lnTo>
                    <a:pt x="0" y="96338"/>
                  </a:lnTo>
                  <a:close/>
                </a:path>
              </a:pathLst>
            </a:custGeom>
            <a:gradFill rotWithShape="1">
              <a:gsLst>
                <a:gs pos="0">
                  <a:srgbClr val="368CF9">
                    <a:alpha val="100000"/>
                  </a:srgbClr>
                </a:gs>
                <a:gs pos="100000">
                  <a:srgbClr val="002074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816593" cy="1344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87680" y="883921"/>
            <a:ext cx="100584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B4B"/>
                </a:solidFill>
                <a:latin typeface="Aptos"/>
              </a:rPr>
              <a:t>9. Estimated Implementation Cost</a:t>
            </a:r>
            <a:endParaRPr sz="2400" b="1">
              <a:solidFill>
                <a:srgbClr val="142B4B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9872" y="1426337"/>
            <a:ext cx="99364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5A6470"/>
                </a:solidFill>
                <a:latin typeface="Aptos"/>
              </a:rPr>
              <a:t>Hackathon prototype estimate; production healthcare deployment would require a separate assessment.</a:t>
            </a:r>
            <a:endParaRPr sz="1600">
              <a:solidFill>
                <a:srgbClr val="5A6470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2010" y="1985010"/>
            <a:ext cx="5791200" cy="377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Frontend hosting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16090" y="1985010"/>
            <a:ext cx="3169920" cy="377952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₹0 – ₹1,000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2010" y="2484882"/>
            <a:ext cx="5791200" cy="377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Backend / cloud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16090" y="2484882"/>
            <a:ext cx="3169920" cy="377952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₹0 – ₹2,000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2010" y="2984754"/>
            <a:ext cx="5791200" cy="377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Database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16090" y="2984754"/>
            <a:ext cx="3169920" cy="377952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₹0 – ₹1,000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42010" y="3484626"/>
            <a:ext cx="5791200" cy="377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AI / API usage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16090" y="3484626"/>
            <a:ext cx="3169920" cy="377952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₹1,000 – ₹3,000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2010" y="3984498"/>
            <a:ext cx="5791200" cy="3779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Domain / services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16090" y="3984498"/>
            <a:ext cx="3169920" cy="377952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2D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₹0 – ₹1,000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409190" y="5556885"/>
            <a:ext cx="7071360" cy="487680"/>
          </a:xfrm>
          <a:prstGeom prst="roundRect">
            <a:avLst/>
          </a:prstGeom>
          <a:solidFill>
            <a:srgbClr val="EBF3FC"/>
          </a:solidFill>
          <a:ln w="15240">
            <a:solidFill>
              <a:srgbClr val="142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2672" rIns="73152" rtlCol="0" anchor="ctr"/>
          <a:lstStyle/>
          <a:p>
            <a:pPr algn="ctr"/>
            <a:r>
              <a:rPr sz="1600" b="1">
                <a:solidFill>
                  <a:srgbClr val="1E232D"/>
                </a:solidFill>
                <a:latin typeface="Aptos"/>
              </a:rPr>
              <a:t>ESTIMATED PROTOTYPE TOTAL: ₹2,000 – ₹8,000</a:t>
            </a:r>
            <a:endParaRPr sz="1600" b="1">
              <a:solidFill>
                <a:srgbClr val="1E232D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8195" y="6285231"/>
            <a:ext cx="104851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A6470"/>
                </a:solidFill>
                <a:latin typeface="Aptos"/>
              </a:rPr>
              <a:t>Production cost depends on user volume, healthcare integrations, security/compliance and cloud infrastructure.</a:t>
            </a:r>
            <a:endParaRPr sz="1400">
              <a:solidFill>
                <a:srgbClr val="5A6470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0535" y="1877219"/>
            <a:ext cx="5429114" cy="3672284"/>
          </a:xfrm>
          <a:prstGeom prst="rect">
            <a:avLst/>
          </a:prstGeom>
          <a:solidFill>
            <a:srgbClr val="F9FAFB"/>
          </a:solidFill>
        </p:spPr>
      </p:sp>
      <p:sp>
        <p:nvSpPr>
          <p:cNvPr id="3" name="Shape 1"/>
          <p:cNvSpPr/>
          <p:nvPr/>
        </p:nvSpPr>
        <p:spPr>
          <a:xfrm>
            <a:off x="6172046" y="1877219"/>
            <a:ext cx="5429114" cy="3672284"/>
          </a:xfrm>
          <a:prstGeom prst="rect">
            <a:avLst/>
          </a:prstGeom>
          <a:solidFill>
            <a:srgbClr val="F9FAFB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901" y="6559153"/>
            <a:ext cx="1071833" cy="25598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364" y="55959"/>
            <a:ext cx="640441" cy="565249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830" y="55959"/>
            <a:ext cx="607997" cy="565249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1257871" y="43160"/>
            <a:ext cx="50799" cy="59303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4" y="28178"/>
            <a:ext cx="621094" cy="621109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90535" y="863600"/>
            <a:ext cx="11544011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50" b="1" kern="0" spc="111" dirty="0">
                <a:solidFill>
                  <a:srgbClr val="0057B8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REGULATORY &amp; CLINICAL STANDARDS</a:t>
            </a:r>
            <a:endParaRPr lang="en-US" sz="1850" dirty="0"/>
          </a:p>
        </p:txBody>
      </p:sp>
      <p:sp>
        <p:nvSpPr>
          <p:cNvPr id="11" name="Text 4"/>
          <p:cNvSpPr/>
          <p:nvPr/>
        </p:nvSpPr>
        <p:spPr>
          <a:xfrm>
            <a:off x="590535" y="1354038"/>
            <a:ext cx="10953476" cy="3961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dirty="0">
                <a:solidFill>
                  <a:srgbClr val="111827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Official sources for the solution</a:t>
            </a:r>
            <a:endParaRPr lang="en-US" sz="2600" dirty="0"/>
          </a:p>
        </p:txBody>
      </p:sp>
      <p:sp>
        <p:nvSpPr>
          <p:cNvPr id="12" name="Text 5"/>
          <p:cNvSpPr/>
          <p:nvPr/>
        </p:nvSpPr>
        <p:spPr>
          <a:xfrm>
            <a:off x="717532" y="2004219"/>
            <a:ext cx="530211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57B8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NATIONAL GUIDELINES &amp; PLATFORMS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717532" y="2399308"/>
            <a:ext cx="5175121" cy="2743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u="sng" dirty="0">
                <a:solidFill>
                  <a:srgbClr val="2B0AFF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  <a:hlinkClick r:id="rId6"/>
              </a:rPr>
              <a:t>Telemedicine Practice Guidelines — Ministry of Health and Family Welfare / </a:t>
            </a:r>
            <a:r>
              <a:rPr lang="en-US" sz="1800" b="1" u="sng" dirty="0" err="1">
                <a:solidFill>
                  <a:srgbClr val="2B0AFF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  <a:hlinkClick r:id="rId6"/>
              </a:rPr>
              <a:t>eSanjeevani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6299042" y="2004219"/>
            <a:ext cx="5302117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57B8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</a:rPr>
              <a:t>DIGITAL HEALTH &amp; GLOBAL STRATEGY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299042" y="2399308"/>
            <a:ext cx="5175121" cy="1371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u="sng" dirty="0">
                <a:solidFill>
                  <a:srgbClr val="2B0AFF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  <a:hlinkClick r:id="rId7"/>
              </a:rPr>
              <a:t>Ayushman Bharat Digital Mission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u="sng" dirty="0">
                <a:solidFill>
                  <a:srgbClr val="2B0AFF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  <a:hlinkClick r:id="rId8"/>
              </a:rPr>
              <a:t>WHO Global Strategy on Digital Health</a:t>
            </a:r>
            <a:endParaRPr lang="en-US" sz="1800" dirty="0"/>
          </a:p>
          <a:p>
            <a:pPr marL="365760" indent="-365760" algn="l">
              <a:lnSpc>
                <a:spcPct val="125000"/>
              </a:lnSpc>
              <a:buSzPct val="100000"/>
              <a:buChar char="•"/>
            </a:pPr>
            <a:r>
              <a:rPr lang="en-US" sz="1800" b="1" u="sng" dirty="0">
                <a:solidFill>
                  <a:srgbClr val="2B0AFF"/>
                </a:solidFill>
                <a:latin typeface="Arimo Bold" panose="020B0604020202020204" pitchFamily="34" charset="0"/>
                <a:ea typeface="Arimo Bold" panose="020B0604020202020204" pitchFamily="34" charset="-122"/>
                <a:cs typeface="Arimo Bold" panose="020B0604020202020204" pitchFamily="34" charset="-120"/>
                <a:hlinkClick r:id="rId9"/>
              </a:rPr>
              <a:t>WHO Consolidated Telemedicine Implementation Guide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590535" y="5676602"/>
            <a:ext cx="11601160" cy="228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Arimo" panose="020B0604020202020204" pitchFamily="34" charset="0"/>
                <a:ea typeface="Arimo" panose="020B0604020202020204" pitchFamily="34" charset="-122"/>
                <a:cs typeface="Arimo" panose="020B0604020202020204" pitchFamily="34" charset="-120"/>
              </a:rPr>
              <a:t>These sources support the proposed solution and explain how to put it in place; they do not mean Telehealth Bridge already exists.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502499"/>
            <a:ext cx="12191695" cy="35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8800" y="279400"/>
            <a:ext cx="1072896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chemeClr val="bg1"/>
                </a:solidFill>
                <a:latin typeface="Bradley Hand ITC" panose="03070402050302030203" charset="0"/>
                <a:cs typeface="Bradley Hand ITC" panose="03070402050302030203" charset="0"/>
              </a:rPr>
              <a:t>SWASTHYA</a:t>
            </a:r>
            <a:r>
              <a:rPr lang="en-US" sz="4000" b="1">
                <a:solidFill>
                  <a:schemeClr val="bg1"/>
                </a:solidFill>
                <a:latin typeface="Bradley Hand ITC" panose="03070402050302030203" charset="0"/>
                <a:cs typeface="Bradley Hand ITC" panose="03070402050302030203" charset="0"/>
              </a:rPr>
              <a:t>  </a:t>
            </a:r>
            <a:r>
              <a:rPr sz="4000" b="1">
                <a:solidFill>
                  <a:schemeClr val="bg1"/>
                </a:solidFill>
                <a:latin typeface="Bradley Hand ITC" panose="03070402050302030203" charset="0"/>
                <a:cs typeface="Bradley Hand ITC" panose="03070402050302030203" charset="0"/>
              </a:rPr>
              <a:t>PATH</a:t>
            </a:r>
            <a:endParaRPr sz="4000" b="1">
              <a:solidFill>
                <a:schemeClr val="bg1"/>
              </a:solidFill>
              <a:latin typeface="Bradley Hand ITC" panose="03070402050302030203" charset="0"/>
              <a:cs typeface="Bradley Hand ITC" panose="03070402050302030203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-50800" y="3784600"/>
            <a:ext cx="3604260" cy="542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5" b="1">
                <a:solidFill>
                  <a:srgbClr val="2869B4"/>
                </a:solidFill>
                <a:latin typeface="Aptos"/>
              </a:rPr>
              <a:t>FROM “I’M NOT FEELING WELL” TO “I KNOW WHAT TO DO NEXT.”</a:t>
            </a:r>
            <a:endParaRPr sz="1465" b="1">
              <a:solidFill>
                <a:srgbClr val="2869B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09137" y="3429000"/>
            <a:ext cx="42625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35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ptos"/>
              </a:rPr>
              <a:t>We are not building another telemedicine platform.
We are building a patient-side navigation layer around the healthcare journey.</a:t>
            </a:r>
            <a:endParaRPr sz="1335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45280" y="4541520"/>
            <a:ext cx="3962400" cy="316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65" b="1">
                <a:solidFill>
                  <a:srgbClr val="142B4B"/>
                </a:solidFill>
                <a:latin typeface="Aptos"/>
              </a:rPr>
              <a:t>THANK YOU</a:t>
            </a:r>
            <a:endParaRPr sz="1465" b="1">
              <a:solidFill>
                <a:srgbClr val="142B4B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B0AFF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6288</Words>
  <Application>WPS Presentation</Application>
  <PresentationFormat>Widescreen</PresentationFormat>
  <Paragraphs>266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SimSun</vt:lpstr>
      <vt:lpstr>Wingdings</vt:lpstr>
      <vt:lpstr>Aptos</vt:lpstr>
      <vt:lpstr>Segoe UI</vt:lpstr>
      <vt:lpstr>Canva Sans Bold</vt:lpstr>
      <vt:lpstr>Algerian</vt:lpstr>
      <vt:lpstr>Arimo</vt:lpstr>
      <vt:lpstr>Arimo Bold</vt:lpstr>
      <vt:lpstr>Arimo Bold</vt:lpstr>
      <vt:lpstr>Arimo Bold</vt:lpstr>
      <vt:lpstr>Arimo</vt:lpstr>
      <vt:lpstr>Arimo</vt:lpstr>
      <vt:lpstr>Arimo</vt:lpstr>
      <vt:lpstr>Bradley Hand ITC</vt:lpstr>
      <vt:lpstr>Calibri</vt:lpstr>
      <vt:lpstr>Yu Gothic UI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KUMAR SHARMA</dc:creator>
  <cp:lastModifiedBy>Knowran</cp:lastModifiedBy>
  <cp:revision>16</cp:revision>
  <dcterms:created xsi:type="dcterms:W3CDTF">2026-09-27T08:59:00Z</dcterms:created>
  <dcterms:modified xsi:type="dcterms:W3CDTF">2026-10-09T00:11:07Z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DFEDC4C02C8E4BB793972C12C43325B2_13</vt:lpwstr>
  </property>
</Properties>
</file>